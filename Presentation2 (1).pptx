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4995" autoAdjust="0"/>
    <p:restoredTop sz="94660"/>
  </p:normalViewPr>
  <p:slideViewPr>
    <p:cSldViewPr snapToGrid="0">
      <p:cViewPr varScale="1">
        <p:scale>
          <a:sx n="123" d="100"/>
          <a:sy n="123" d="100"/>
        </p:scale>
        <p:origin x="-114" y="-18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21EE4E9-D094-1127-43C5-66D992080E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17FC432F-E4F3-9C21-0AFD-88EADC4D4C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7CB00CD-51F4-AE06-7B13-899AC4725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64555-5776-4C9C-BAE5-2C28454001A4}" type="datetimeFigureOut">
              <a:rPr lang="en-IN" smtClean="0"/>
              <a:pPr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AB08B09-F2CF-D5B3-5CE0-DCDA947D9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95272B7-DCE7-C383-D478-04A59A488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C1C51-A919-4983-B078-A9C630ADFBF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340725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4AAD491-B8D8-C6B0-7D84-EA384ABDA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09755E7-0E08-3B67-B38D-76BB030987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AE69C76-5FB3-9DD2-6477-A1E962686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64555-5776-4C9C-BAE5-2C28454001A4}" type="datetimeFigureOut">
              <a:rPr lang="en-IN" smtClean="0"/>
              <a:pPr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7BAB0DB-C8BE-C4F2-977A-ED2906C0D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3974CDA-C509-6CA4-0AC2-0463AF8E6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C1C51-A919-4983-B078-A9C630ADFBF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1522011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0F2F36E-29C6-10D9-ABB9-FD3129CD6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19B8654A-D1F9-45D8-99C0-BCA6563BBF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D22403D-9199-BB38-BFF9-D4853F949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64555-5776-4C9C-BAE5-2C28454001A4}" type="datetimeFigureOut">
              <a:rPr lang="en-IN" smtClean="0"/>
              <a:pPr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E0BC193-370E-D68E-C363-34A9C8EA8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C74C7D8-D4BF-06E8-31DC-F17B3A0C0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C1C51-A919-4983-B078-A9C630ADFBF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717337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E76BDD5-111B-FFB9-2F75-793224C45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E8B1557-6CCE-C3D5-7E8F-4EFAC38698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FDF7BEE3-481F-C877-AE36-07EA886B2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EBF42B0E-CD50-8B26-6773-90F118EEA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64555-5776-4C9C-BAE5-2C28454001A4}" type="datetimeFigureOut">
              <a:rPr lang="en-IN" smtClean="0"/>
              <a:pPr/>
              <a:t>12-03-2026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D4ED592F-D88C-B52E-1357-89079C533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DEF079D3-7055-737B-B3F2-0674B8B94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C1C51-A919-4983-B078-A9C630ADFBF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255615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172F441-77BB-5E72-44CC-806594C25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9974CAAA-DDE8-19B7-42D7-B3C7511E8E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C10ACC84-600E-D697-93BF-F36BA03948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7BF56E8D-C6ED-7EB5-F2DD-4073005AE9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EBEA61C7-D718-F612-33D5-FAA7F58085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F2BE1618-DD81-5158-A769-F22E61C22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64555-5776-4C9C-BAE5-2C28454001A4}" type="datetimeFigureOut">
              <a:rPr lang="en-IN" smtClean="0"/>
              <a:pPr/>
              <a:t>12-03-2026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410AE6E4-06E4-BD79-A931-9DB5D5771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B9507399-06F6-A7B1-27F9-EB05A6C70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C1C51-A919-4983-B078-A9C630ADFBF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13132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C30F89E-CCC4-8971-9971-27DAC6D65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2152FF4B-4DF5-0869-CA62-6885837D6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64555-5776-4C9C-BAE5-2C28454001A4}" type="datetimeFigureOut">
              <a:rPr lang="en-IN" smtClean="0"/>
              <a:pPr/>
              <a:t>12-03-2026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1E457C35-2A35-DF11-06C8-E4675F95D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15575B7D-BBC2-6A02-08EB-AD1FA2E06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C1C51-A919-4983-B078-A9C630ADFBF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581554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1438E905-ED53-AF36-B110-12F8B5EDF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64555-5776-4C9C-BAE5-2C28454001A4}" type="datetimeFigureOut">
              <a:rPr lang="en-IN" smtClean="0"/>
              <a:pPr/>
              <a:t>12-03-2026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86A46D84-6E2B-0FBB-9250-089DA0332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72C25367-E557-7536-4008-2ADB3CEB7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C1C51-A919-4983-B078-A9C630ADFBF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590893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56982C9-1000-5B64-6421-EF2FDD0A1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7C43198-040B-E5C8-C975-EB479AB4F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2E23556D-0C74-8E6D-19BC-20D8C58442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20F66748-09A5-D520-BD46-3D2ADA767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64555-5776-4C9C-BAE5-2C28454001A4}" type="datetimeFigureOut">
              <a:rPr lang="en-IN" smtClean="0"/>
              <a:pPr/>
              <a:t>12-03-2026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4CB13BEF-EEFC-1B0D-8C43-E9717EB10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8D628B1A-C325-FC8B-82FC-EE8419F0C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C1C51-A919-4983-B078-A9C630ADFBF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2872348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3A36557-CFBD-79F8-56F4-7C89517FB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748FB0D4-2E27-8FEF-D84B-B64F708DD8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38FE70AD-B2D9-7F1E-4A66-C17638F81D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2896FD3E-F204-AF9C-6077-5D6898183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64555-5776-4C9C-BAE5-2C28454001A4}" type="datetimeFigureOut">
              <a:rPr lang="en-IN" smtClean="0"/>
              <a:pPr/>
              <a:t>12-03-2026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5A3C4803-844E-5B1E-9F8C-D99B882D9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B32C3153-F6E6-86AF-0D2B-BFC6DDDEE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C1C51-A919-4983-B078-A9C630ADFBF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5260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8C935D1-AD94-702E-AE47-FA9628BDB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2DD29C6F-FCA0-50BD-F23C-A363A7093F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BAF3A54-E228-D43B-3E66-529AAC8DA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64555-5776-4C9C-BAE5-2C28454001A4}" type="datetimeFigureOut">
              <a:rPr lang="en-IN" smtClean="0"/>
              <a:pPr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9F3865C-DFFD-48B3-E6C4-E6A8EC98E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C493EE3-16CE-470C-B68E-A427704C6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C1C51-A919-4983-B078-A9C630ADFBF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7286140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B51ADCE3-1D0F-A781-3A91-94B048B5E4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B58C7520-03C8-C4D0-ED62-BE1BFEE921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E6B308B-D58C-7798-1F26-4915F0803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64555-5776-4C9C-BAE5-2C28454001A4}" type="datetimeFigureOut">
              <a:rPr lang="en-IN" smtClean="0"/>
              <a:pPr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8896293-5508-076C-D457-DE6344BC7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5F3FEC6-656C-8E47-C16D-666409A2C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C1C51-A919-4983-B078-A9C630ADFBF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1029695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F080BD09-F5E7-A38C-1181-53F4C9F62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6C65F2D-192B-50B8-9010-580F0B6D0A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ECE1760-49A9-F122-F9A3-943D69C553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864555-5776-4C9C-BAE5-2C28454001A4}" type="datetimeFigureOut">
              <a:rPr lang="en-IN" smtClean="0"/>
              <a:pPr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1762C75-F6BD-DBEB-CA6F-D04465E7B3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536EC60-5DD7-2967-D066-14F11D6DF0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5C1C51-A919-4983-B078-A9C630ADFBF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40308505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SRM Logo">
            <a:extLst>
              <a:ext uri="{FF2B5EF4-FFF2-40B4-BE49-F238E27FC236}">
                <a16:creationId xmlns:a16="http://schemas.microsoft.com/office/drawing/2014/main" xmlns="" id="{AE308E71-5A7E-93E4-F776-9A04EFAB63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 bwMode="auto">
          <a:xfrm>
            <a:off x="123234" y="85263"/>
            <a:ext cx="4645363" cy="1985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xmlns="" id="{5F3F3F35-424A-9068-6275-9EAEA01E39EC}"/>
              </a:ext>
            </a:extLst>
          </p:cNvPr>
          <p:cNvSpPr txBox="1">
            <a:spLocks/>
          </p:cNvSpPr>
          <p:nvPr/>
        </p:nvSpPr>
        <p:spPr>
          <a:xfrm>
            <a:off x="-619432" y="1763118"/>
            <a:ext cx="8986683" cy="12874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CONFRENCE</a:t>
            </a:r>
            <a:endParaRPr lang="en-IN" sz="40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xmlns="" id="{95BB8124-34CB-BC45-AC06-F6EC0C6524DB}"/>
              </a:ext>
            </a:extLst>
          </p:cNvPr>
          <p:cNvSpPr txBox="1">
            <a:spLocks/>
          </p:cNvSpPr>
          <p:nvPr/>
        </p:nvSpPr>
        <p:spPr>
          <a:xfrm>
            <a:off x="-242856" y="3187187"/>
            <a:ext cx="11058341" cy="12874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“AN INTEGRATED BLOCKCHAIN AND CLOUD-BASED EXPLAINABLE AI FRAMEWORK FOR REDUCING BLACK BOX RISK IN DEEP LEARNING SYSTEMS”</a:t>
            </a:r>
            <a:endParaRPr lang="en-IN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85AE28F0-5D35-6764-1CFA-068175F0E0F9}"/>
              </a:ext>
            </a:extLst>
          </p:cNvPr>
          <p:cNvSpPr txBox="1"/>
          <p:nvPr/>
        </p:nvSpPr>
        <p:spPr>
          <a:xfrm>
            <a:off x="1043895" y="4811155"/>
            <a:ext cx="609432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AUTHOR 1:</a:t>
            </a:r>
            <a:r>
              <a:rPr lang="en-IN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N. NITHYA , Assistant professor 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AUTHOR 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2:</a:t>
            </a:r>
            <a:r>
              <a:rPr lang="en-IN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HEMALATHA  S, </a:t>
            </a:r>
            <a:r>
              <a:rPr lang="en-IN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Msc</a:t>
            </a:r>
            <a:r>
              <a:rPr lang="en-IN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ADS</a:t>
            </a:r>
          </a:p>
          <a:p>
            <a:r>
              <a:rPr lang="en-IN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AUTHOR </a:t>
            </a:r>
            <a:r>
              <a:rPr lang="en-IN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3:</a:t>
            </a:r>
            <a:r>
              <a:rPr lang="en-US" dirty="0" smtClean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HARIHARAN V </a:t>
            </a:r>
            <a:r>
              <a:rPr lang="en-IN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Msc</a:t>
            </a:r>
            <a:r>
              <a:rPr lang="en-IN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ADS</a:t>
            </a:r>
            <a:endParaRPr lang="en-IN" dirty="0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26545CB5-82EC-0D51-ACF4-F1660BC49E79}"/>
              </a:ext>
            </a:extLst>
          </p:cNvPr>
          <p:cNvSpPr/>
          <p:nvPr/>
        </p:nvSpPr>
        <p:spPr>
          <a:xfrm>
            <a:off x="701040" y="4673599"/>
            <a:ext cx="6094324" cy="1200329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xmlns="" id="{5831C793-EAB6-237D-9FE7-AA3F533274AB}"/>
              </a:ext>
            </a:extLst>
          </p:cNvPr>
          <p:cNvCxnSpPr/>
          <p:nvPr/>
        </p:nvCxnSpPr>
        <p:spPr>
          <a:xfrm>
            <a:off x="255639" y="3050581"/>
            <a:ext cx="1156273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8955607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8E387CA-DEB7-3AC9-5A50-F0DEEB93F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Motivation of the Research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E52E832-B1D0-D243-BFD2-61EDB07E18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Increasing dependence on AI systems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transparency and accountability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Risks of incorrect AI decisions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 of trustworthy AI</a:t>
            </a:r>
          </a:p>
          <a:p>
            <a:pPr marL="0" indent="0">
              <a:buNone/>
            </a:pP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domains: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Banking</a:t>
            </a:r>
          </a:p>
          <a:p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Cybersecurity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car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7059184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93D14FB-281F-64C1-B008-20DC88726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37532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r>
              <a:rPr lang="en-US" b="1" dirty="0"/>
              <a:t/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0FB7883-F904-C0A4-17E0-5E942EA8DA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Black Box Problem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models are highly complex.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Internal decision processes are not visible.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cannot understand why predictions occur.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reduces trust and adoption of AI systems.</a:t>
            </a:r>
          </a:p>
          <a:p>
            <a:pPr marL="0" indent="0">
              <a:buNone/>
            </a:pP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Loan rejection without explanation.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9006727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1A855AC-AB8B-826F-CEEF-281776453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64B685C-8B12-6F30-C099-27951CC995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the black box risk in AI systems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explainability of predictions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AI decisions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trustworthy AI framework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8491024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76FA255-FD48-2865-AF11-B33D0C0CF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5898851-E882-7A82-4D37-FA05E3409D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artificial neural networks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Learns patterns from large datasets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image recognition and fraud detection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Algorithms</a:t>
            </a:r>
            <a:r>
              <a:rPr lang="en-IN" b="1" dirty="0" smtClean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RNN</a:t>
            </a: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DNN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7355394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1B398F4-D02C-A652-7844-BC1A35F0D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Black Box Problem in AI</a:t>
            </a:r>
            <a:endParaRPr lang="en-IN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81EF594-BE3C-1827-ABE9-FA1148CF7A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Millions of parameters inside neural networks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 to interpret decision process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transparency</a:t>
            </a:r>
          </a:p>
          <a:p>
            <a:pPr marL="0" indent="0">
              <a:buNone/>
            </a:pP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diagnosis without explanation.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591031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EE6F7E6-D93D-DA46-4018-32BC5EF8F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Artificial Intelligence (XAI)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D339180-8A89-24B0-407F-BE80436776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XAI makes AI decisions understandable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which features influenced predictions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techniques: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importance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Transparency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trust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accountability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9273948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5C00591-5656-0A5F-6976-108CBB440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 Computing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0586221-8A1B-6602-70F4-AAA84CC27B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scalable computing infrastructure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large datasets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distributed AI training</a:t>
            </a:r>
          </a:p>
          <a:p>
            <a:pPr marL="0" indent="0">
              <a:buNone/>
            </a:pP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Benefits: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processing power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AI services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accessibility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8849353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CBD98CC-0415-CBD3-5516-73C5C61E8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2">
                    <a:lumMod val="90000"/>
                    <a:lumOff val="10000"/>
                  </a:schemeClr>
                </a:solidFill>
              </a:rPr>
              <a:t>Blockchain Technology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4D464D0-3207-3C88-DA19-18D4F01300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Decentralized digital ledger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stored in blocks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Immutable and secure</a:t>
            </a:r>
          </a:p>
          <a:p>
            <a:pPr marL="0" indent="0">
              <a:buNone/>
            </a:pP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Benefits: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integrity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Transparency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Tamper-proof AI records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4138058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B78954A-D292-08C8-6216-6F978B88C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314BA15-7C47-488D-AB90-B92D5E9CEB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7019"/>
            <a:ext cx="10515600" cy="514585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IN" dirty="0"/>
          </a:p>
          <a:p>
            <a:pPr marL="0" indent="0" algn="ctr">
              <a:buNone/>
            </a:pPr>
            <a:r>
              <a:rPr lang="en-IN" dirty="0"/>
              <a:t>Data Collection</a:t>
            </a:r>
            <a:br>
              <a:rPr lang="en-IN" dirty="0"/>
            </a:br>
            <a:r>
              <a:rPr lang="en-IN" dirty="0"/>
              <a:t>⬇</a:t>
            </a:r>
            <a:br>
              <a:rPr lang="en-IN" dirty="0"/>
            </a:br>
            <a:r>
              <a:rPr lang="en-IN" dirty="0"/>
              <a:t>Cloud Storage</a:t>
            </a:r>
            <a:br>
              <a:rPr lang="en-IN" dirty="0"/>
            </a:br>
            <a:r>
              <a:rPr lang="en-IN" dirty="0"/>
              <a:t>⬇</a:t>
            </a:r>
            <a:br>
              <a:rPr lang="en-IN" dirty="0"/>
            </a:br>
            <a:r>
              <a:rPr lang="en-IN" dirty="0"/>
              <a:t>Deep Learning Model</a:t>
            </a:r>
            <a:br>
              <a:rPr lang="en-IN" dirty="0"/>
            </a:br>
            <a:r>
              <a:rPr lang="en-IN" dirty="0"/>
              <a:t>⬇</a:t>
            </a:r>
            <a:br>
              <a:rPr lang="en-IN" dirty="0"/>
            </a:br>
            <a:r>
              <a:rPr lang="en-IN" dirty="0"/>
              <a:t>Explainable AI Module</a:t>
            </a:r>
            <a:br>
              <a:rPr lang="en-IN" dirty="0"/>
            </a:br>
            <a:r>
              <a:rPr lang="en-IN" dirty="0"/>
              <a:t>⬇</a:t>
            </a:r>
            <a:br>
              <a:rPr lang="en-IN" dirty="0"/>
            </a:br>
            <a:r>
              <a:rPr lang="en-IN" dirty="0"/>
              <a:t>Blockchain Storage</a:t>
            </a:r>
            <a:br>
              <a:rPr lang="en-IN" dirty="0"/>
            </a:br>
            <a:r>
              <a:rPr lang="en-IN" dirty="0"/>
              <a:t>⬇</a:t>
            </a:r>
            <a:br>
              <a:rPr lang="en-IN" dirty="0"/>
            </a:br>
            <a:r>
              <a:rPr lang="en-IN" dirty="0"/>
              <a:t>User Interface</a:t>
            </a:r>
          </a:p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DEA80B55-243A-E13E-026D-9AC0EEFB461A}"/>
              </a:ext>
            </a:extLst>
          </p:cNvPr>
          <p:cNvSpPr/>
          <p:nvPr/>
        </p:nvSpPr>
        <p:spPr>
          <a:xfrm>
            <a:off x="838199" y="1347019"/>
            <a:ext cx="10400071" cy="5116359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1492358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E60EB59-BC42-6701-579E-F5E4C9C57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6F8CA25-7767-4CC9-0148-C8EC1CF10A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90252" y="1690688"/>
            <a:ext cx="6231194" cy="4466150"/>
          </a:xfrm>
          <a:ln>
            <a:headEnd type="none" w="med" len="med"/>
            <a:tailEnd type="none" w="med" len="med"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Processing: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Min-Max Normalization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PCA</a:t>
            </a:r>
          </a:p>
          <a:p>
            <a:pPr marL="0" indent="0" algn="ctr">
              <a:buNone/>
            </a:pP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Learning:</a:t>
            </a:r>
          </a:p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CNN</a:t>
            </a:r>
          </a:p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DNN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u="sng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Explainability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LIME</a:t>
            </a:r>
          </a:p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SHAP</a:t>
            </a:r>
          </a:p>
          <a:p>
            <a:pPr algn="ctr">
              <a:buNone/>
            </a:pP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Blockchain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POW</a:t>
            </a:r>
          </a:p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971590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CC99422-D8DD-114B-CF6B-C6D3193DE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Application Example</a:t>
            </a:r>
            <a:r>
              <a:rPr lang="en-US" b="1" dirty="0"/>
              <a:t/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AA22774-DE30-9982-905B-63BE64C8AF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Fraud Detection System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data collected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model detects suspicious activity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XAI explains why fraud detected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stored in blockchain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enables real-time monitoring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6198727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023F5E9-2F43-725E-0BD9-5F96DDF59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Framework</a:t>
            </a:r>
            <a:b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6BE3F3B-4C27-81D7-D7FF-A41345EAEF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u="sng" dirty="0">
                <a:solidFill>
                  <a:schemeClr val="tx2">
                    <a:lumMod val="90000"/>
                    <a:lumOff val="10000"/>
                  </a:schemeClr>
                </a:solidFill>
              </a:rPr>
              <a:t>Benefits:</a:t>
            </a:r>
          </a:p>
          <a:p>
            <a:r>
              <a:rPr lang="en-US" dirty="0"/>
              <a:t>Transparent AI decisions</a:t>
            </a:r>
          </a:p>
          <a:p>
            <a:r>
              <a:rPr lang="en-US" dirty="0"/>
              <a:t>Reduced black box risk</a:t>
            </a:r>
          </a:p>
          <a:p>
            <a:r>
              <a:rPr lang="en-US" dirty="0"/>
              <a:t>Secure data storage</a:t>
            </a:r>
          </a:p>
          <a:p>
            <a:r>
              <a:rPr lang="en-US" dirty="0"/>
              <a:t>Scalable system</a:t>
            </a:r>
          </a:p>
          <a:p>
            <a:r>
              <a:rPr lang="en-US" dirty="0"/>
              <a:t>Increased user trust</a:t>
            </a:r>
          </a:p>
          <a:p>
            <a:pPr marL="0" indent="0">
              <a:buNone/>
            </a:pPr>
            <a:r>
              <a:rPr lang="en-US" u="sng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Applications:</a:t>
            </a:r>
          </a:p>
          <a:p>
            <a:r>
              <a:rPr lang="en-US" dirty="0"/>
              <a:t>Healthcare</a:t>
            </a:r>
          </a:p>
          <a:p>
            <a:r>
              <a:rPr lang="en-US" dirty="0"/>
              <a:t>Finance</a:t>
            </a:r>
          </a:p>
          <a:p>
            <a:r>
              <a:rPr lang="en-US" dirty="0"/>
              <a:t>Smart cities</a:t>
            </a:r>
          </a:p>
          <a:p>
            <a:r>
              <a:rPr lang="en-US" dirty="0" err="1" smtClean="0"/>
              <a:t>Cybersecurity</a:t>
            </a:r>
            <a:endParaRPr lang="en-US" dirty="0" smtClean="0"/>
          </a:p>
          <a:p>
            <a:r>
              <a:rPr lang="en-US" dirty="0" smtClean="0"/>
              <a:t>Automatic car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8234462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EB9E468-57D7-A392-0EC0-A6C0EDD5F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Work</a:t>
            </a:r>
            <a:r>
              <a:rPr lang="en-US" b="1" dirty="0"/>
              <a:t/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C47A459-326F-8E24-5476-7744A7A602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u="sng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</a:p>
          <a:p>
            <a:r>
              <a:rPr lang="en-US" dirty="0"/>
              <a:t>Proposed framework improves transparency and security.</a:t>
            </a:r>
          </a:p>
          <a:p>
            <a:r>
              <a:rPr lang="en-US" dirty="0"/>
              <a:t>Combines deep learning, XAI, cloud computing, and blockchain.</a:t>
            </a:r>
          </a:p>
          <a:p>
            <a:pPr marL="0" indent="0">
              <a:buNone/>
            </a:pPr>
            <a:r>
              <a:rPr lang="en-US" u="sng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Work:</a:t>
            </a:r>
          </a:p>
          <a:p>
            <a:r>
              <a:rPr lang="en-US" dirty="0"/>
              <a:t>Improve scalability</a:t>
            </a:r>
          </a:p>
          <a:p>
            <a:r>
              <a:rPr lang="en-US" dirty="0"/>
              <a:t>Reduce computational cost</a:t>
            </a:r>
          </a:p>
          <a:p>
            <a:r>
              <a:rPr lang="en-US" dirty="0"/>
              <a:t>Deploy in real-world AI systems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6531729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384</Words>
  <Application>Microsoft Office PowerPoint</Application>
  <PresentationFormat>Custom</PresentationFormat>
  <Paragraphs>112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Slide 1</vt:lpstr>
      <vt:lpstr>Motivation of the Research</vt:lpstr>
      <vt:lpstr>Problem Statement </vt:lpstr>
      <vt:lpstr>Research Objectives</vt:lpstr>
      <vt:lpstr>Deep Learning Systems</vt:lpstr>
      <vt:lpstr>Black Box Problem in AI</vt:lpstr>
      <vt:lpstr>Explainable Artificial Intelligence (XAI)</vt:lpstr>
      <vt:lpstr>Cloud Computing</vt:lpstr>
      <vt:lpstr>Blockchain Technology</vt:lpstr>
      <vt:lpstr>Proposed System Architecture</vt:lpstr>
      <vt:lpstr>Algorithms Used</vt:lpstr>
      <vt:lpstr>Real-Time Application Example </vt:lpstr>
      <vt:lpstr>Advantages of Proposed Framework </vt:lpstr>
      <vt:lpstr>Conclusion &amp; Future Work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hemalatha siva</dc:creator>
  <cp:lastModifiedBy>student</cp:lastModifiedBy>
  <cp:revision>2</cp:revision>
  <dcterms:created xsi:type="dcterms:W3CDTF">2026-03-11T16:10:37Z</dcterms:created>
  <dcterms:modified xsi:type="dcterms:W3CDTF">2026-03-12T07:49:05Z</dcterms:modified>
</cp:coreProperties>
</file>